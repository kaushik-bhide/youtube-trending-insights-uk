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  <p:embeddedFont>
      <p:font typeface="Helios" panose="020B0604020202020204" charset="0"/>
      <p:regular r:id="rId13"/>
    </p:embeddedFont>
    <p:embeddedFont>
      <p:font typeface="Helios Bold" panose="020B0604020202020204" charset="0"/>
      <p:regular r:id="rId14"/>
    </p:embeddedFont>
    <p:embeddedFont>
      <p:font typeface="Helios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690264"/>
            <a:ext cx="6471171" cy="1596736"/>
            <a:chOff x="0" y="0"/>
            <a:chExt cx="1704341" cy="4205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4342" cy="420540"/>
            </a:xfrm>
            <a:custGeom>
              <a:avLst/>
              <a:gdLst/>
              <a:ahLst/>
              <a:cxnLst/>
              <a:rect l="l" t="t" r="r" b="b"/>
              <a:pathLst>
                <a:path w="1704342" h="420540">
                  <a:moveTo>
                    <a:pt x="0" y="0"/>
                  </a:moveTo>
                  <a:lnTo>
                    <a:pt x="1704342" y="0"/>
                  </a:lnTo>
                  <a:lnTo>
                    <a:pt x="1704342" y="420540"/>
                  </a:lnTo>
                  <a:lnTo>
                    <a:pt x="0" y="42054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04341" cy="458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71171" y="8690264"/>
            <a:ext cx="6471171" cy="1596736"/>
            <a:chOff x="0" y="0"/>
            <a:chExt cx="1704341" cy="4205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4342" cy="420540"/>
            </a:xfrm>
            <a:custGeom>
              <a:avLst/>
              <a:gdLst/>
              <a:ahLst/>
              <a:cxnLst/>
              <a:rect l="l" t="t" r="r" b="b"/>
              <a:pathLst>
                <a:path w="1704342" h="420540">
                  <a:moveTo>
                    <a:pt x="0" y="0"/>
                  </a:moveTo>
                  <a:lnTo>
                    <a:pt x="1704342" y="0"/>
                  </a:lnTo>
                  <a:lnTo>
                    <a:pt x="1704342" y="420540"/>
                  </a:lnTo>
                  <a:lnTo>
                    <a:pt x="0" y="420540"/>
                  </a:lnTo>
                  <a:close/>
                </a:path>
              </a:pathLst>
            </a:custGeom>
            <a:solidFill>
              <a:srgbClr val="41C4CB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04341" cy="458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7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2811" y="0"/>
            <a:ext cx="5555189" cy="10287000"/>
            <a:chOff x="0" y="0"/>
            <a:chExt cx="7406919" cy="137160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44276" t="3531" r="21707" b="1925"/>
            <a:stretch>
              <a:fillRect/>
            </a:stretch>
          </p:blipFill>
          <p:spPr>
            <a:xfrm>
              <a:off x="0" y="0"/>
              <a:ext cx="7406919" cy="13716000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028700" y="9260667"/>
            <a:ext cx="4420618" cy="38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 spc="-2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By:  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91682" y="9260667"/>
            <a:ext cx="4420618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 spc="-2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October 27, 2025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88298" y="2033486"/>
            <a:ext cx="11434772" cy="1701819"/>
            <a:chOff x="0" y="0"/>
            <a:chExt cx="15246362" cy="226909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474420"/>
              <a:ext cx="15246362" cy="7946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43"/>
                </a:lnSpc>
              </a:pPr>
              <a:r>
                <a:rPr lang="en-US" sz="3934" spc="-11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Insights on Trending YouTube Videos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6675"/>
              <a:ext cx="15246362" cy="966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80"/>
                </a:lnSpc>
              </a:pPr>
              <a:r>
                <a:rPr lang="en-US" sz="5126" spc="-179">
                  <a:solidFill>
                    <a:srgbClr val="41C4CB"/>
                  </a:solidFill>
                  <a:latin typeface="Helios"/>
                  <a:ea typeface="Helios"/>
                  <a:cs typeface="Helios"/>
                  <a:sym typeface="Helios"/>
                </a:rPr>
                <a:t>Trending YouTube Videos  - UK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71381" y="42361"/>
            <a:ext cx="8816619" cy="3357759"/>
            <a:chOff x="0" y="0"/>
            <a:chExt cx="2322073" cy="8843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2073" cy="884348"/>
            </a:xfrm>
            <a:custGeom>
              <a:avLst/>
              <a:gdLst/>
              <a:ahLst/>
              <a:cxnLst/>
              <a:rect l="l" t="t" r="r" b="b"/>
              <a:pathLst>
                <a:path w="2322073" h="884348">
                  <a:moveTo>
                    <a:pt x="0" y="0"/>
                  </a:moveTo>
                  <a:lnTo>
                    <a:pt x="2322073" y="0"/>
                  </a:lnTo>
                  <a:lnTo>
                    <a:pt x="2322073" y="884348"/>
                  </a:lnTo>
                  <a:lnTo>
                    <a:pt x="0" y="8843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22073" cy="91292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285333"/>
            <a:ext cx="940123" cy="9401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638482"/>
            <a:ext cx="940123" cy="94012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6991631"/>
            <a:ext cx="940123" cy="94012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03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8344780"/>
            <a:ext cx="940123" cy="94012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04</a:t>
              </a:r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2308386" y="4057188"/>
          <a:ext cx="6393038" cy="5230005"/>
        </p:xfrm>
        <a:graphic>
          <a:graphicData uri="http://schemas.openxmlformats.org/drawingml/2006/table">
            <a:tbl>
              <a:tblPr/>
              <a:tblGrid>
                <a:gridCol w="6393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5375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spc="-97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Dataset 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8210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spc="-97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Data Cleaning and Preparation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8210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spc="-97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Feature Engineering and Metric Creation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8210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spc="-97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Exploratory Data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028700" y="914095"/>
            <a:ext cx="7282199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50"/>
              </a:lnSpc>
            </a:pPr>
            <a:r>
              <a:rPr lang="en-US" sz="15000" spc="-750">
                <a:solidFill>
                  <a:srgbClr val="41C4CB"/>
                </a:solidFill>
                <a:latin typeface="Helios"/>
                <a:ea typeface="Helios"/>
                <a:cs typeface="Helios"/>
                <a:sym typeface="Helios"/>
              </a:rPr>
              <a:t>Agenda</a:t>
            </a:r>
          </a:p>
        </p:txBody>
      </p:sp>
      <p:sp>
        <p:nvSpPr>
          <p:cNvPr id="19" name="AutoShape 19"/>
          <p:cNvSpPr/>
          <p:nvPr/>
        </p:nvSpPr>
        <p:spPr>
          <a:xfrm>
            <a:off x="0" y="3400120"/>
            <a:ext cx="182880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1623476" y="4057188"/>
          <a:ext cx="6393038" cy="5442470"/>
        </p:xfrm>
        <a:graphic>
          <a:graphicData uri="http://schemas.openxmlformats.org/drawingml/2006/table">
            <a:tbl>
              <a:tblPr/>
              <a:tblGrid>
                <a:gridCol w="6393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5375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spc="-97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Average Engagement By 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0675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spc="-97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Music Deep Dive - Popularity vs Engagement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8210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spc="-97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Conculsion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8210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spc="-97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References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4B0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" name="Group 21"/>
          <p:cNvGrpSpPr/>
          <p:nvPr/>
        </p:nvGrpSpPr>
        <p:grpSpPr>
          <a:xfrm>
            <a:off x="10683354" y="4203377"/>
            <a:ext cx="940123" cy="94012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05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683354" y="5494941"/>
            <a:ext cx="940123" cy="940123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06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83354" y="6991631"/>
            <a:ext cx="940123" cy="94012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07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683354" y="8344780"/>
            <a:ext cx="940123" cy="940123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331"/>
            <a:ext cx="18288000" cy="3555129"/>
            <a:chOff x="0" y="0"/>
            <a:chExt cx="4816593" cy="936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36330"/>
            </a:xfrm>
            <a:custGeom>
              <a:avLst/>
              <a:gdLst/>
              <a:ahLst/>
              <a:cxnLst/>
              <a:rect l="l" t="t" r="r" b="b"/>
              <a:pathLst>
                <a:path w="4816592" h="936330">
                  <a:moveTo>
                    <a:pt x="0" y="0"/>
                  </a:moveTo>
                  <a:lnTo>
                    <a:pt x="4816592" y="0"/>
                  </a:lnTo>
                  <a:lnTo>
                    <a:pt x="4816592" y="936330"/>
                  </a:lnTo>
                  <a:lnTo>
                    <a:pt x="0" y="936330"/>
                  </a:lnTo>
                  <a:close/>
                </a:path>
              </a:pathLst>
            </a:custGeom>
            <a:solidFill>
              <a:srgbClr val="41C4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74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69374" y="1408921"/>
            <a:ext cx="770632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spc="-17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Dataset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943" y="1000125"/>
            <a:ext cx="6225357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40"/>
              </a:lnSpc>
              <a:spcBef>
                <a:spcPct val="0"/>
              </a:spcBef>
            </a:pPr>
            <a:r>
              <a:rPr lang="en-US" sz="1800" u="sng" spc="-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2" action="ppaction://hlinksldjump"/>
              </a:rPr>
              <a:t>Back to Agenda Page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239503"/>
            <a:ext cx="15110902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Dataset Overview and Characteristics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Source: (Kaggle,2025) - Youtube Trending Videos Dataset  (License : CC0: Public Domain)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Filtered for the United Kingdom (GB) region.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Features: 16 video metadata features(views, likes, comments, publish date and trending date)  and 12 channel metadata features (channel subs, country)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Timeframe: 3rdth October 2025 - 25th October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331"/>
            <a:ext cx="18288000" cy="3555129"/>
            <a:chOff x="0" y="0"/>
            <a:chExt cx="4816593" cy="936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36330"/>
            </a:xfrm>
            <a:custGeom>
              <a:avLst/>
              <a:gdLst/>
              <a:ahLst/>
              <a:cxnLst/>
              <a:rect l="l" t="t" r="r" b="b"/>
              <a:pathLst>
                <a:path w="4816592" h="936330">
                  <a:moveTo>
                    <a:pt x="0" y="0"/>
                  </a:moveTo>
                  <a:lnTo>
                    <a:pt x="4816592" y="0"/>
                  </a:lnTo>
                  <a:lnTo>
                    <a:pt x="4816592" y="936330"/>
                  </a:lnTo>
                  <a:lnTo>
                    <a:pt x="0" y="936330"/>
                  </a:lnTo>
                  <a:close/>
                </a:path>
              </a:pathLst>
            </a:custGeom>
            <a:solidFill>
              <a:srgbClr val="41C4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74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69374" y="1408921"/>
            <a:ext cx="7706326" cy="419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spc="-17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 Cleaning and Preparation</a:t>
            </a:r>
          </a:p>
          <a:p>
            <a:pPr algn="ctr">
              <a:lnSpc>
                <a:spcPts val="5500"/>
              </a:lnSpc>
            </a:pPr>
            <a:endParaRPr lang="en-US" sz="5000" spc="-175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ctr">
              <a:lnSpc>
                <a:spcPts val="5500"/>
              </a:lnSpc>
            </a:pPr>
            <a:endParaRPr lang="en-US" sz="5000" spc="-175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ctr">
              <a:lnSpc>
                <a:spcPts val="5500"/>
              </a:lnSpc>
            </a:pPr>
            <a:endParaRPr lang="en-US" sz="5000" spc="-175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ctr">
              <a:lnSpc>
                <a:spcPts val="5500"/>
              </a:lnSpc>
            </a:pPr>
            <a:endParaRPr lang="en-US" sz="5000" spc="-175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33943" y="1000125"/>
            <a:ext cx="6225357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40"/>
              </a:lnSpc>
              <a:spcBef>
                <a:spcPct val="0"/>
              </a:spcBef>
            </a:pPr>
            <a:r>
              <a:rPr lang="en-US" sz="1800" u="sng" spc="-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2" action="ppaction://hlinksldjump"/>
              </a:rPr>
              <a:t>Back to Agenda Page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569559"/>
            <a:ext cx="16230600" cy="285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Overview of how the data was cleaned and prepared for the analysis</a:t>
            </a:r>
          </a:p>
          <a:p>
            <a:pPr marL="604518" lvl="1" indent="-302259" algn="l">
              <a:lnSpc>
                <a:spcPts val="3779"/>
              </a:lnSpc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Filtered the dataset for the UK trending videos</a:t>
            </a:r>
          </a:p>
          <a:p>
            <a:pPr marL="604518" lvl="1" indent="-302259" algn="l">
              <a:lnSpc>
                <a:spcPts val="3779"/>
              </a:lnSpc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Dropped rows missing critical engagement metrics (likes, comments, views).Kept non-critical missing values (e.g., channel_country) to retain data diversity.</a:t>
            </a:r>
          </a:p>
          <a:p>
            <a:pPr marL="604518" lvl="1" indent="-302259" algn="l">
              <a:lnSpc>
                <a:spcPts val="3779"/>
              </a:lnSpc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Converted publish/trending dates → datetime using Pandas to_datetime().</a:t>
            </a:r>
          </a:p>
          <a:p>
            <a:pPr marL="604518" lvl="1" indent="-302259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Removed rows where the number of likes &gt; number of 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331"/>
            <a:ext cx="18288000" cy="3555129"/>
            <a:chOff x="0" y="0"/>
            <a:chExt cx="4816593" cy="936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36330"/>
            </a:xfrm>
            <a:custGeom>
              <a:avLst/>
              <a:gdLst/>
              <a:ahLst/>
              <a:cxnLst/>
              <a:rect l="l" t="t" r="r" b="b"/>
              <a:pathLst>
                <a:path w="4816592" h="936330">
                  <a:moveTo>
                    <a:pt x="0" y="0"/>
                  </a:moveTo>
                  <a:lnTo>
                    <a:pt x="4816592" y="0"/>
                  </a:lnTo>
                  <a:lnTo>
                    <a:pt x="4816592" y="936330"/>
                  </a:lnTo>
                  <a:lnTo>
                    <a:pt x="0" y="936330"/>
                  </a:lnTo>
                  <a:close/>
                </a:path>
              </a:pathLst>
            </a:custGeom>
            <a:solidFill>
              <a:srgbClr val="41C4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74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69374" y="1408921"/>
            <a:ext cx="7706326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spc="-17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Feature Engineering and Metric Creation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943" y="1000125"/>
            <a:ext cx="6225357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40"/>
              </a:lnSpc>
              <a:spcBef>
                <a:spcPct val="0"/>
              </a:spcBef>
            </a:pPr>
            <a:r>
              <a:rPr lang="en-US" sz="1800" u="sng" spc="-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2" action="ppaction://hlinksldjump"/>
              </a:rPr>
              <a:t>Back to Agenda Page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095875"/>
            <a:ext cx="16230600" cy="285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 Engineering for metric level analysis</a:t>
            </a:r>
          </a:p>
          <a:p>
            <a:pPr marL="604518" lvl="1" indent="-302259" algn="l">
              <a:lnSpc>
                <a:spcPts val="3779"/>
              </a:lnSpc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days_to_trend — difference between trending date and published date. Measures how many days it took to reach trending after publishing.</a:t>
            </a:r>
          </a:p>
          <a:p>
            <a:pPr marL="604518" lvl="1" indent="-302259" algn="l">
              <a:lnSpc>
                <a:spcPts val="3779"/>
              </a:lnSpc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engagement rate — (like count + comment count) / view count. Represents interaction per view</a:t>
            </a:r>
          </a:p>
          <a:p>
            <a:pPr marL="604518" lvl="1" indent="-302259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days_trending —  count of unique video_trending__date per video_id. Indicates how long a video stayed on the trending 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331"/>
            <a:ext cx="18288000" cy="3555129"/>
            <a:chOff x="0" y="0"/>
            <a:chExt cx="4816593" cy="936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36330"/>
            </a:xfrm>
            <a:custGeom>
              <a:avLst/>
              <a:gdLst/>
              <a:ahLst/>
              <a:cxnLst/>
              <a:rect l="l" t="t" r="r" b="b"/>
              <a:pathLst>
                <a:path w="4816592" h="936330">
                  <a:moveTo>
                    <a:pt x="0" y="0"/>
                  </a:moveTo>
                  <a:lnTo>
                    <a:pt x="4816592" y="0"/>
                  </a:lnTo>
                  <a:lnTo>
                    <a:pt x="4816592" y="936330"/>
                  </a:lnTo>
                  <a:lnTo>
                    <a:pt x="0" y="936330"/>
                  </a:lnTo>
                  <a:close/>
                </a:path>
              </a:pathLst>
            </a:custGeom>
            <a:solidFill>
              <a:srgbClr val="41C4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74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69374" y="1408921"/>
            <a:ext cx="770632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spc="-17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Exploratory Data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943" y="1000125"/>
            <a:ext cx="6225357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40"/>
              </a:lnSpc>
              <a:spcBef>
                <a:spcPct val="0"/>
              </a:spcBef>
            </a:pPr>
            <a:r>
              <a:rPr lang="en-US" sz="1800" u="sng" spc="-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2" action="ppaction://hlinksldjump"/>
              </a:rPr>
              <a:t>Back to Agenda Page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095875"/>
            <a:ext cx="16230600" cy="332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Initial exploration of the dataset</a:t>
            </a:r>
          </a:p>
          <a:p>
            <a:pPr marL="604518" lvl="1" indent="-302259" algn="l">
              <a:lnSpc>
                <a:spcPts val="3779"/>
              </a:lnSpc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Average engagement rate for trending videos ≈ 4%, max 93% (after removing outliers).</a:t>
            </a:r>
          </a:p>
          <a:p>
            <a:pPr marL="604518" lvl="1" indent="-302259" algn="l">
              <a:lnSpc>
                <a:spcPts val="3779"/>
              </a:lnSpc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Strong positive correlation between likes and views (r = 0.83).</a:t>
            </a:r>
          </a:p>
          <a:p>
            <a:pPr marL="604518" lvl="1" indent="-302259" algn="l">
              <a:lnSpc>
                <a:spcPts val="3779"/>
              </a:lnSpc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Comments and likes also correlate strongly (r = 0.77), indicating that interactive audiences both like and comment.</a:t>
            </a:r>
          </a:p>
          <a:p>
            <a:pPr marL="604518" lvl="1" indent="-302259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Comments and views (r = 0.55) show a moderate relationship — not all highly viewed videos generate discussion.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331"/>
            <a:ext cx="18288000" cy="2071873"/>
            <a:chOff x="0" y="0"/>
            <a:chExt cx="4816593" cy="545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45679"/>
            </a:xfrm>
            <a:custGeom>
              <a:avLst/>
              <a:gdLst/>
              <a:ahLst/>
              <a:cxnLst/>
              <a:rect l="l" t="t" r="r" b="b"/>
              <a:pathLst>
                <a:path w="4816592" h="545679">
                  <a:moveTo>
                    <a:pt x="0" y="0"/>
                  </a:moveTo>
                  <a:lnTo>
                    <a:pt x="4816592" y="0"/>
                  </a:lnTo>
                  <a:lnTo>
                    <a:pt x="4816592" y="545679"/>
                  </a:lnTo>
                  <a:lnTo>
                    <a:pt x="0" y="545679"/>
                  </a:lnTo>
                  <a:close/>
                </a:path>
              </a:pathLst>
            </a:custGeom>
            <a:solidFill>
              <a:srgbClr val="41C4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83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355548"/>
            <a:ext cx="11732722" cy="7282760"/>
          </a:xfrm>
          <a:custGeom>
            <a:avLst/>
            <a:gdLst/>
            <a:ahLst/>
            <a:cxnLst/>
            <a:rect l="l" t="t" r="r" b="b"/>
            <a:pathLst>
              <a:path w="11732722" h="7282760">
                <a:moveTo>
                  <a:pt x="0" y="0"/>
                </a:moveTo>
                <a:lnTo>
                  <a:pt x="11732722" y="0"/>
                </a:lnTo>
                <a:lnTo>
                  <a:pt x="11732722" y="7282760"/>
                </a:lnTo>
                <a:lnTo>
                  <a:pt x="0" y="7282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1" r="-216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73680" y="379956"/>
            <a:ext cx="7706326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spc="-15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Average Engagement by Category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33943" y="1000125"/>
            <a:ext cx="6225357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40"/>
              </a:lnSpc>
              <a:spcBef>
                <a:spcPct val="0"/>
              </a:spcBef>
            </a:pPr>
            <a:r>
              <a:rPr lang="en-US" sz="1800" u="sng" spc="-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3" action="ppaction://hlinksldjump"/>
              </a:rPr>
              <a:t>Back to Agenda 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32722" y="2999476"/>
            <a:ext cx="6555278" cy="463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 Music category shows the highest engagement rate (~7%), indicating strong audience interaction.</a:t>
            </a:r>
          </a:p>
          <a:p>
            <a:pPr marL="647703" lvl="1" indent="-323852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Sports, News &amp; Politics content show lower engagement (1–2%).</a:t>
            </a:r>
          </a:p>
          <a:p>
            <a:pPr marL="647703" lvl="1" indent="-323852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This aligns with Ofcom’s 2025 report, which found that 93% of UK adults listen to music weekly, and YouTube holds a 47% share of all online music listening.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331"/>
            <a:ext cx="18288000" cy="2071873"/>
            <a:chOff x="0" y="0"/>
            <a:chExt cx="4816593" cy="545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45679"/>
            </a:xfrm>
            <a:custGeom>
              <a:avLst/>
              <a:gdLst/>
              <a:ahLst/>
              <a:cxnLst/>
              <a:rect l="l" t="t" r="r" b="b"/>
              <a:pathLst>
                <a:path w="4816592" h="545679">
                  <a:moveTo>
                    <a:pt x="0" y="0"/>
                  </a:moveTo>
                  <a:lnTo>
                    <a:pt x="4816592" y="0"/>
                  </a:lnTo>
                  <a:lnTo>
                    <a:pt x="4816592" y="545679"/>
                  </a:lnTo>
                  <a:lnTo>
                    <a:pt x="0" y="545679"/>
                  </a:lnTo>
                  <a:close/>
                </a:path>
              </a:pathLst>
            </a:custGeom>
            <a:solidFill>
              <a:srgbClr val="41C4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83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83245" y="2424760"/>
            <a:ext cx="8574337" cy="4147725"/>
          </a:xfrm>
          <a:custGeom>
            <a:avLst/>
            <a:gdLst/>
            <a:ahLst/>
            <a:cxnLst/>
            <a:rect l="l" t="t" r="r" b="b"/>
            <a:pathLst>
              <a:path w="8574337" h="4147725">
                <a:moveTo>
                  <a:pt x="0" y="0"/>
                </a:moveTo>
                <a:lnTo>
                  <a:pt x="8574337" y="0"/>
                </a:lnTo>
                <a:lnTo>
                  <a:pt x="8574337" y="4147725"/>
                </a:lnTo>
                <a:lnTo>
                  <a:pt x="0" y="414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1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78145" y="2424760"/>
            <a:ext cx="8379242" cy="4147725"/>
          </a:xfrm>
          <a:custGeom>
            <a:avLst/>
            <a:gdLst/>
            <a:ahLst/>
            <a:cxnLst/>
            <a:rect l="l" t="t" r="r" b="b"/>
            <a:pathLst>
              <a:path w="8379242" h="4147725">
                <a:moveTo>
                  <a:pt x="0" y="0"/>
                </a:moveTo>
                <a:lnTo>
                  <a:pt x="8379242" y="0"/>
                </a:lnTo>
                <a:lnTo>
                  <a:pt x="8379242" y="4147725"/>
                </a:lnTo>
                <a:lnTo>
                  <a:pt x="0" y="4147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73680" y="379956"/>
            <a:ext cx="7706326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spc="-15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Music Deep Dive — Popularity vs Engagement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33943" y="1000125"/>
            <a:ext cx="6225357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40"/>
              </a:lnSpc>
              <a:spcBef>
                <a:spcPct val="0"/>
              </a:spcBef>
            </a:pPr>
            <a:r>
              <a:rPr lang="en-US" sz="1800" u="sng" spc="-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4" action="ppaction://hlinksldjump"/>
              </a:rPr>
              <a:t>Back to Agenda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8126" y="6582010"/>
            <a:ext cx="9525" cy="44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483245" y="6582011"/>
            <a:ext cx="17804755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BLACKPINK dominates both visibility and engagement in UK trending lists.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ROSÉ &amp; Bruno Mars collaboration holds the highest engagement (~10%) among music videos.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Indian music and film trailers (T-Series, JioStudios) show broad reach but low engagement (&lt;2%).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Indicates strong fan-driven loyalty in K-pop audiences versus passive viewing for film content.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 high engagement aligns with a growing youth-driven K-pop culture in London, where young audiences connect with music as a form of identity and community (The Korea Times, 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331"/>
            <a:ext cx="18288000" cy="2071873"/>
            <a:chOff x="0" y="0"/>
            <a:chExt cx="4816593" cy="545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45679"/>
            </a:xfrm>
            <a:custGeom>
              <a:avLst/>
              <a:gdLst/>
              <a:ahLst/>
              <a:cxnLst/>
              <a:rect l="l" t="t" r="r" b="b"/>
              <a:pathLst>
                <a:path w="4816592" h="545679">
                  <a:moveTo>
                    <a:pt x="0" y="0"/>
                  </a:moveTo>
                  <a:lnTo>
                    <a:pt x="4816592" y="0"/>
                  </a:lnTo>
                  <a:lnTo>
                    <a:pt x="4816592" y="545679"/>
                  </a:lnTo>
                  <a:lnTo>
                    <a:pt x="0" y="545679"/>
                  </a:lnTo>
                  <a:close/>
                </a:path>
              </a:pathLst>
            </a:custGeom>
            <a:solidFill>
              <a:srgbClr val="41C4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83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73680" y="379956"/>
            <a:ext cx="7706326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spc="-15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943" y="1000125"/>
            <a:ext cx="6225357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40"/>
              </a:lnSpc>
              <a:spcBef>
                <a:spcPct val="0"/>
              </a:spcBef>
            </a:pPr>
            <a:r>
              <a:rPr lang="en-US" sz="1800" u="sng" spc="-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2" action="ppaction://hlinksldjump"/>
              </a:rPr>
              <a:t>Back to Agenda Page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8126" y="6582010"/>
            <a:ext cx="9525" cy="44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41622" y="4029310"/>
            <a:ext cx="17804755" cy="421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 YouTube Trending dataset (UK subset) shows that Music content drives the highest engagement (~7%), while categories like Sports and News remain lower (1–2%).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Music videos reach trending lists faster and generate stronger viewer interaction, especially for artists like BLACKPINK, ROSÉ, and JENNIE.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Engagement correlates strongly with views and likes, confirming that visibility drives audience interaction.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Insights align with external research (Ofcom, 2024; The Korea Times, 2025) — showing that music consumption is done on regular basis in UK by younger people and trend of the younger audiences towards K-pop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This highlights YouTube’s ongoing role as a primary platform for music discovery and fan engagement in the UK.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331"/>
            <a:ext cx="18288000" cy="2071873"/>
            <a:chOff x="0" y="0"/>
            <a:chExt cx="4816593" cy="545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45679"/>
            </a:xfrm>
            <a:custGeom>
              <a:avLst/>
              <a:gdLst/>
              <a:ahLst/>
              <a:cxnLst/>
              <a:rect l="l" t="t" r="r" b="b"/>
              <a:pathLst>
                <a:path w="4816592" h="545679">
                  <a:moveTo>
                    <a:pt x="0" y="0"/>
                  </a:moveTo>
                  <a:lnTo>
                    <a:pt x="4816592" y="0"/>
                  </a:lnTo>
                  <a:lnTo>
                    <a:pt x="4816592" y="545679"/>
                  </a:lnTo>
                  <a:lnTo>
                    <a:pt x="0" y="545679"/>
                  </a:lnTo>
                  <a:close/>
                </a:path>
              </a:pathLst>
            </a:custGeom>
            <a:solidFill>
              <a:srgbClr val="41C4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83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73680" y="379956"/>
            <a:ext cx="7706326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spc="-15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3943" y="1000125"/>
            <a:ext cx="6225357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40"/>
              </a:lnSpc>
              <a:spcBef>
                <a:spcPct val="0"/>
              </a:spcBef>
            </a:pPr>
            <a:r>
              <a:rPr lang="en-US" sz="1800" u="sng" spc="-1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2" action="ppaction://hlinksldjump"/>
              </a:rPr>
              <a:t>Back to Agenda Page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8126" y="6582010"/>
            <a:ext cx="9525" cy="44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41622" y="4029310"/>
            <a:ext cx="17804755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(Ofcom, 2025) </a:t>
            </a:r>
            <a:r>
              <a:rPr lang="en-US" sz="3000" i="1" spc="-105">
                <a:solidFill>
                  <a:srgbClr val="000000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https://www.ofcom.org.uk/media-use-and-attitudes/media-habits-adults/tuning-into-youtube-uks-media-habits-revealed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(Korea Times, 2025) </a:t>
            </a:r>
            <a:r>
              <a:rPr lang="en-US" sz="3000" i="1" spc="-105">
                <a:solidFill>
                  <a:srgbClr val="000000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https://www.koreatimes.co.kr/entertainment/k-pop/20250626/why-k-pops-rise-in-london-is-about-more-than-just-music</a:t>
            </a:r>
          </a:p>
          <a:p>
            <a:pPr marL="647700" lvl="1" indent="-323850" algn="l">
              <a:lnSpc>
                <a:spcPts val="3300"/>
              </a:lnSpc>
              <a:buFont typeface="Arial"/>
              <a:buChar char="•"/>
            </a:pPr>
            <a:r>
              <a:rPr lang="en-US" sz="3000" spc="-105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(Kaggle, 2025)</a:t>
            </a:r>
            <a:r>
              <a:rPr lang="en-US" sz="3000" i="1" spc="-105">
                <a:solidFill>
                  <a:srgbClr val="000000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 https://www.kaggle.com/datasets/canerkonuk/youtube-trending-videos-global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Office PowerPoint</Application>
  <PresentationFormat>Custom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Helvetica World</vt:lpstr>
      <vt:lpstr>Helios Italics</vt:lpstr>
      <vt:lpstr>Helios Bold</vt:lpstr>
      <vt:lpstr>Helios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Title + Research Aim</dc:title>
  <cp:lastModifiedBy>Kaushik Nilesh Bhide</cp:lastModifiedBy>
  <cp:revision>2</cp:revision>
  <dcterms:created xsi:type="dcterms:W3CDTF">2006-08-16T00:00:00Z</dcterms:created>
  <dcterms:modified xsi:type="dcterms:W3CDTF">2025-11-11T21:40:11Z</dcterms:modified>
  <dc:identifier>DAG29h1HhFI</dc:identifier>
</cp:coreProperties>
</file>